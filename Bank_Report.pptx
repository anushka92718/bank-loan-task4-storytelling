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2a81c5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22a81c5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22a81c5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22a81c5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22a81c5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22a81c5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22a81c5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22a81c5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22a81c5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22a81c5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22a81c5b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22a81c5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22a81c5b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22a81c5b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TITLE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Bank Loan Report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Data Storytelling &amp; Business Insights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Prepared by: </a:t>
            </a:r>
            <a:r>
              <a:rPr lang="en" sz="1300">
                <a:solidFill>
                  <a:schemeClr val="dk1"/>
                </a:solidFill>
              </a:rPr>
              <a:t>Anushka Sonawane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Offer Letter ID :</a:t>
            </a:r>
            <a:r>
              <a:rPr lang="en" sz="1300">
                <a:solidFill>
                  <a:schemeClr val="dk1"/>
                </a:solidFill>
              </a:rPr>
              <a:t> APSPL2628018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Tools Used: </a:t>
            </a:r>
            <a:r>
              <a:rPr lang="en" sz="1300">
                <a:solidFill>
                  <a:schemeClr val="dk1"/>
                </a:solidFill>
              </a:rPr>
              <a:t>SQL | Python (Pandas) | Tableau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“Transforming raw loan data into actionable business insights”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Internship Task 4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PROBLEM STATEMENT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Evaluate bank loan performance and identify key factors affecting repayment behavior and risk.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Business Goals:</a:t>
            </a:r>
            <a:endParaRPr b="1" sz="1300">
              <a:solidFill>
                <a:schemeClr val="dk1"/>
              </a:solidFill>
            </a:endParaRPr>
          </a:p>
          <a:p>
            <a:pPr indent="-29876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</a:rPr>
              <a:t>Analyze total loan applications and funding trends</a:t>
            </a:r>
            <a:endParaRPr sz="1300">
              <a:solidFill>
                <a:schemeClr val="dk1"/>
              </a:solidFill>
            </a:endParaRPr>
          </a:p>
          <a:p>
            <a:pPr indent="-2987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</a:rPr>
              <a:t>Identify proportion of </a:t>
            </a:r>
            <a:r>
              <a:rPr b="1" lang="en" sz="1300">
                <a:solidFill>
                  <a:schemeClr val="dk1"/>
                </a:solidFill>
              </a:rPr>
              <a:t>Good Loans vs Bad Loans</a:t>
            </a:r>
            <a:endParaRPr b="1" sz="1300">
              <a:solidFill>
                <a:schemeClr val="dk1"/>
              </a:solidFill>
            </a:endParaRPr>
          </a:p>
          <a:p>
            <a:pPr indent="-2987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</a:rPr>
              <a:t>Understand loan distribution across </a:t>
            </a:r>
            <a:r>
              <a:rPr b="1" lang="en" sz="1300">
                <a:solidFill>
                  <a:schemeClr val="dk1"/>
                </a:solidFill>
              </a:rPr>
              <a:t>states, time, and purposes</a:t>
            </a:r>
            <a:endParaRPr b="1" sz="1300">
              <a:solidFill>
                <a:schemeClr val="dk1"/>
              </a:solidFill>
            </a:endParaRPr>
          </a:p>
          <a:p>
            <a:pPr indent="-2987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</a:rPr>
              <a:t>Detect potential </a:t>
            </a:r>
            <a:r>
              <a:rPr b="1" lang="en" sz="1300">
                <a:solidFill>
                  <a:schemeClr val="dk1"/>
                </a:solidFill>
              </a:rPr>
              <a:t>risk segments</a:t>
            </a:r>
            <a:r>
              <a:rPr lang="en" sz="1300">
                <a:solidFill>
                  <a:schemeClr val="dk1"/>
                </a:solidFill>
              </a:rPr>
              <a:t> using financial indicators</a:t>
            </a:r>
            <a:endParaRPr sz="1300">
              <a:solidFill>
                <a:schemeClr val="dk1"/>
              </a:solidFill>
            </a:endParaRPr>
          </a:p>
          <a:p>
            <a:pPr indent="-2987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</a:rPr>
              <a:t>Support </a:t>
            </a:r>
            <a:r>
              <a:rPr b="1" lang="en" sz="1300">
                <a:solidFill>
                  <a:schemeClr val="dk1"/>
                </a:solidFill>
              </a:rPr>
              <a:t>data-driven decision-making</a:t>
            </a:r>
            <a:r>
              <a:rPr lang="en" sz="1300">
                <a:solidFill>
                  <a:schemeClr val="dk1"/>
                </a:solidFill>
              </a:rPr>
              <a:t> for loan approvals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DATASET OVERVIEW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The dataset contains detailed financial and customer-level information related to bank loans.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Attributes: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Loan Amount &amp; Total Payment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Interest Rate &amp; Debt-to-Income Ratio (DTI)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Loan Status (Fully Paid, Current, Charged Off)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Issue Date (Monthly trend analysis)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State, Purpose, Term, Home Ownership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Data Scope: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Covers multiple loan categories and customer segments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Enables both </a:t>
            </a:r>
            <a:r>
              <a:rPr b="1" lang="en" sz="1300">
                <a:solidFill>
                  <a:schemeClr val="dk1"/>
                </a:solidFill>
              </a:rPr>
              <a:t>performance analysis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risk evaluation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KPI’s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152475"/>
            <a:ext cx="8520600" cy="3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</a:rPr>
              <a:t>📊 Volume Metrics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</a:rPr>
              <a:t>Total Loan Applications → COUNT(id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Total Funded Amount → SUM(loan_amount)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</a:rPr>
              <a:t>Total Amount Received → SUM(total_payment)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</a:rPr>
              <a:t>📈 Performance Metrics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Good Loan % → Loans with Fully Paid + Current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</a:rPr>
              <a:t>Bad Loan % → Loans with Charged Off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</a:rPr>
              <a:t>📉 Risk Metric</a:t>
            </a:r>
            <a:r>
              <a:rPr lang="en" sz="1300">
                <a:solidFill>
                  <a:schemeClr val="dk1"/>
                </a:solidFill>
              </a:rPr>
              <a:t>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Average Interest Rate → AVG(int_rate)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</a:rPr>
              <a:t>Average DTI → AVG(dti)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📅 Time-Based Metrics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MTD (Month-to-Date) vs PMTD comparison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Monthly loan application trends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KEY INSIGHTS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Good Loans dominate the portfolio</a:t>
            </a:r>
            <a:r>
              <a:rPr lang="en" sz="1300">
                <a:solidFill>
                  <a:schemeClr val="dk1"/>
                </a:solidFill>
              </a:rPr>
              <a:t>, indicating strong repayment behavior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Bad Loans (Charged Off)</a:t>
            </a:r>
            <a:r>
              <a:rPr lang="en" sz="1300">
                <a:solidFill>
                  <a:schemeClr val="dk1"/>
                </a:solidFill>
              </a:rPr>
              <a:t> form a smaller percentage but highlight risk areas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Loan applications show </a:t>
            </a:r>
            <a:r>
              <a:rPr b="1" lang="en" sz="1300">
                <a:solidFill>
                  <a:schemeClr val="dk1"/>
                </a:solidFill>
              </a:rPr>
              <a:t>variation across months</a:t>
            </a:r>
            <a:r>
              <a:rPr lang="en" sz="1300">
                <a:solidFill>
                  <a:schemeClr val="dk1"/>
                </a:solidFill>
              </a:rPr>
              <a:t>, indicating seasonal demand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Certain states contribute </a:t>
            </a:r>
            <a:r>
              <a:rPr b="1" lang="en" sz="1300">
                <a:solidFill>
                  <a:schemeClr val="dk1"/>
                </a:solidFill>
              </a:rPr>
              <a:t>higher loan volumes</a:t>
            </a:r>
            <a:r>
              <a:rPr lang="en" sz="1300">
                <a:solidFill>
                  <a:schemeClr val="dk1"/>
                </a:solidFill>
              </a:rPr>
              <a:t>, indicating regional concentration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Debt consolidation and personal loans</a:t>
            </a:r>
            <a:r>
              <a:rPr lang="en" sz="1300">
                <a:solidFill>
                  <a:schemeClr val="dk1"/>
                </a:solidFill>
              </a:rPr>
              <a:t> are the most common loan purposes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Overall, the bank shows </a:t>
            </a:r>
            <a:r>
              <a:rPr b="1" lang="en" sz="1300">
                <a:solidFill>
                  <a:schemeClr val="dk1"/>
                </a:solidFill>
              </a:rPr>
              <a:t>healthy loan recovery and financial performance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DEEP INSIGHTS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📊 Loan Status Analysis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Good Loans significantly outnumber Bad Loans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Higher repayment observed in </a:t>
            </a:r>
            <a:r>
              <a:rPr i="1" lang="en" sz="1300">
                <a:solidFill>
                  <a:schemeClr val="dk1"/>
                </a:solidFill>
              </a:rPr>
              <a:t>Fully Paid</a:t>
            </a:r>
            <a:r>
              <a:rPr lang="en" sz="1300">
                <a:solidFill>
                  <a:schemeClr val="dk1"/>
                </a:solidFill>
              </a:rPr>
              <a:t> category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Bad Loans show lower recovery compared to funded amount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📈 Monthly Trend Analysis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Loan applications fluctuate month-wise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MTD vs PMTD comparison shows </a:t>
            </a:r>
            <a:r>
              <a:rPr b="1" lang="en" sz="1300">
                <a:solidFill>
                  <a:schemeClr val="dk1"/>
                </a:solidFill>
              </a:rPr>
              <a:t>growth/decline patterns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Helps identify peak loan demand periods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⚠️ Risk Analysis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Higher DTI customers show increased default probability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Certain loan purposes contribute more to bad loans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Loan segments with lower repayment need monitoring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BUSINESS </a:t>
            </a:r>
            <a:r>
              <a:rPr lang="en">
                <a:solidFill>
                  <a:srgbClr val="0000FF"/>
                </a:solidFill>
              </a:rPr>
              <a:t>RECOMMENDATIONS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" sz="1300">
                <a:solidFill>
                  <a:schemeClr val="dk1"/>
                </a:solidFill>
              </a:rPr>
              <a:t>Focus on </a:t>
            </a:r>
            <a:r>
              <a:rPr b="1" lang="en" sz="1300">
                <a:solidFill>
                  <a:schemeClr val="dk1"/>
                </a:solidFill>
              </a:rPr>
              <a:t>high-performing states</a:t>
            </a:r>
            <a:r>
              <a:rPr lang="en" sz="1300">
                <a:solidFill>
                  <a:schemeClr val="dk1"/>
                </a:solidFill>
              </a:rPr>
              <a:t> to maximize loan growth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" sz="1300">
                <a:solidFill>
                  <a:schemeClr val="dk1"/>
                </a:solidFill>
              </a:rPr>
              <a:t>Strengthen </a:t>
            </a:r>
            <a:r>
              <a:rPr b="1" lang="en" sz="1300">
                <a:solidFill>
                  <a:schemeClr val="dk1"/>
                </a:solidFill>
              </a:rPr>
              <a:t>credit risk assessment</a:t>
            </a:r>
            <a:r>
              <a:rPr lang="en" sz="1300">
                <a:solidFill>
                  <a:schemeClr val="dk1"/>
                </a:solidFill>
              </a:rPr>
              <a:t> for high DTI applicants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" sz="1300">
                <a:solidFill>
                  <a:schemeClr val="dk1"/>
                </a:solidFill>
              </a:rPr>
              <a:t>Monitor and control </a:t>
            </a:r>
            <a:r>
              <a:rPr b="1" lang="en" sz="1300">
                <a:solidFill>
                  <a:schemeClr val="dk1"/>
                </a:solidFill>
              </a:rPr>
              <a:t>Charged Off loan segments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" sz="1300">
                <a:solidFill>
                  <a:schemeClr val="dk1"/>
                </a:solidFill>
              </a:rPr>
              <a:t>Promote high-performing loan categories like </a:t>
            </a:r>
            <a:r>
              <a:rPr b="1" lang="en" sz="1300">
                <a:solidFill>
                  <a:schemeClr val="dk1"/>
                </a:solidFill>
              </a:rPr>
              <a:t>debt consolidation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" sz="1300">
                <a:solidFill>
                  <a:schemeClr val="dk1"/>
                </a:solidFill>
              </a:rPr>
              <a:t>Use MTD/PMTD trends for </a:t>
            </a:r>
            <a:r>
              <a:rPr b="1" lang="en" sz="1300">
                <a:solidFill>
                  <a:schemeClr val="dk1"/>
                </a:solidFill>
              </a:rPr>
              <a:t>better financial planning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" sz="1300">
                <a:solidFill>
                  <a:schemeClr val="dk1"/>
                </a:solidFill>
              </a:rPr>
              <a:t>Apply stricter validation for </a:t>
            </a:r>
            <a:r>
              <a:rPr b="1" lang="en" sz="1300">
                <a:solidFill>
                  <a:schemeClr val="dk1"/>
                </a:solidFill>
              </a:rPr>
              <a:t>high-risk customer profiles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CONCLUSION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The analysis reveals that the majority of loans are </a:t>
            </a:r>
            <a:r>
              <a:rPr b="1" lang="en" sz="1300">
                <a:solidFill>
                  <a:schemeClr val="dk1"/>
                </a:solidFill>
              </a:rPr>
              <a:t>performing well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A small portion of </a:t>
            </a:r>
            <a:r>
              <a:rPr b="1" lang="en" sz="1300">
                <a:solidFill>
                  <a:schemeClr val="dk1"/>
                </a:solidFill>
              </a:rPr>
              <a:t>bad loans highlights potential risk areas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SQL-driven insights and dashboard analysis enable </a:t>
            </a:r>
            <a:r>
              <a:rPr b="1" lang="en" sz="1300">
                <a:solidFill>
                  <a:schemeClr val="dk1"/>
                </a:solidFill>
              </a:rPr>
              <a:t>clear performance tracking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Data storytelling helps convert analysis into </a:t>
            </a:r>
            <a:r>
              <a:rPr b="1" lang="en" sz="1300">
                <a:solidFill>
                  <a:schemeClr val="dk1"/>
                </a:solidFill>
              </a:rPr>
              <a:t>actionable business strategies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The project demonstrates how data can improve </a:t>
            </a:r>
            <a:r>
              <a:rPr b="1" lang="en" sz="1300">
                <a:solidFill>
                  <a:schemeClr val="dk1"/>
                </a:solidFill>
              </a:rPr>
              <a:t>loan decision-making and profitability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